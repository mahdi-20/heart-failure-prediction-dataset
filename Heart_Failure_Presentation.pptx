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65A82"/>
                </a:solidFill>
              </a:defRPr>
            </a:pPr>
            <a:r>
              <a:t>Heart Failure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28090"/>
                </a:solidFill>
              </a:defRPr>
            </a:pPr>
            <a:r>
              <a:t>Advanced Machine Learning Pipeline with Interactive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Course: Advanced ML &amp; Data Analytics</a:t>
            </a:r>
          </a:p>
          <a:p>
            <a:pPr algn="ctr">
              <a:spcBef>
                <a:spcPts val="1000"/>
              </a:spcBef>
              <a:defRPr sz="1800">
                <a:solidFill>
                  <a:srgbClr val="505050"/>
                </a:solidFill>
              </a:defRPr>
            </a:pPr>
            <a:r>
              <a:t>Institution: Nexa-land</a:t>
            </a:r>
          </a:p>
          <a:p>
            <a:pPr algn="ctr">
              <a:spcBef>
                <a:spcPts val="1000"/>
              </a:spcBef>
              <a:defRPr sz="1800">
                <a:solidFill>
                  <a:srgbClr val="505050"/>
                </a:solidFill>
              </a:defRPr>
            </a:pPr>
            <a:r>
              <a:t>Instructor: Prof. Hamed Mamani, University of Washington</a:t>
            </a:r>
          </a:p>
          <a:p>
            <a:pPr algn="ctr">
              <a:spcBef>
                <a:spcPts val="1000"/>
              </a:spcBef>
              <a:defRPr sz="1800">
                <a:solidFill>
                  <a:srgbClr val="505050"/>
                </a:solidFill>
              </a:defRPr>
            </a:pPr>
            <a:r>
              <a:t>Author: Mahdi Bakhtiari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1. Project Overview &amp; Problem Statement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2. Dataset Information &amp; Exploration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3. Exploratory Data Analysis (EDA)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4. Machine Learning Models &amp; Preprocessing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5. Feature Importance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6. Model Performance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7. Confusion Matrix &amp; ROC Curve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8. Model Selection &amp; Justification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9. Streamlit Web Application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10. Conclusions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028090"/>
                </a:solidFill>
              </a:defRPr>
            </a:pPr>
            <a:r>
              <a:t>Problem Statement:</a:t>
            </a:r>
          </a:p>
          <a:p>
            <a:pPr lvl="1"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Develop a machine learning model to predict heart failure risk using clinical data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028090"/>
                </a:solidFill>
              </a:defRPr>
            </a:pPr>
            <a:r>
              <a:t>Importance:</a:t>
            </a:r>
          </a:p>
          <a:p>
            <a:pPr lvl="1"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Early detection of heart disease can save lives and enable preventive care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028090"/>
                </a:solidFill>
              </a:defRPr>
            </a:pPr>
            <a:r>
              <a:t>Dataset:</a:t>
            </a:r>
          </a:p>
          <a:p>
            <a:pPr lvl="1"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918 patient records with 11 clinical features and binary classification target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028090"/>
                </a:solidFill>
              </a:defRPr>
            </a:pPr>
            <a:r>
              <a:t>Objective:</a:t>
            </a:r>
          </a:p>
          <a:p>
            <a:pPr lvl="1"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Build, evaluate, and deploy a production-ready prediction system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028090"/>
                </a:solidFill>
              </a:defRPr>
            </a:pPr>
            <a:r>
              <a:t>Approach:</a:t>
            </a:r>
          </a:p>
          <a:p>
            <a:pPr lvl="1"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Compare 5 ML models, optimize hyperparameters, and create interactive web application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028090"/>
                </a:solidFill>
              </a:defRPr>
            </a:pPr>
            <a:r>
              <a:t>Deliverable:</a:t>
            </a:r>
          </a:p>
          <a:p>
            <a:pPr lvl="1"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Streamlit web app for real-time risk predictions with SHAP explainability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Dataset Information &amp;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05050"/>
                </a:solidFill>
              </a:defRPr>
            </a:pPr>
            <a:r>
              <a:t>Total Samples: 918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05050"/>
                </a:solidFill>
              </a:defRPr>
            </a:pPr>
            <a:r>
              <a:t>Number of Features: 11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05050"/>
                </a:solidFill>
              </a:defRPr>
            </a:pPr>
            <a:r>
              <a:t>Target Variable: HeartDisease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05050"/>
                </a:solidFill>
              </a:defRPr>
            </a:pPr>
            <a:r>
              <a:t>Missing Values: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05050"/>
                </a:solidFill>
              </a:defRPr>
            </a:pPr>
            <a:r>
              <a:t>Duplicate Records: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05050"/>
                </a:solidFill>
              </a:defRPr>
            </a:pPr>
            <a:r>
              <a:t>Data Quality: 100% Complete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05050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28090"/>
                </a:solidFill>
              </a:defRPr>
            </a:pPr>
            <a:r>
              <a:t>Class Distribution: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505050"/>
                </a:solidFill>
              </a:defRPr>
            </a:pPr>
            <a:r>
              <a:t>  No Disease: 410 (44.7%)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505050"/>
                </a:solidFill>
              </a:defRPr>
            </a:pPr>
            <a:r>
              <a:t>  Heart Failure: 508 (55.3%)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05050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28090"/>
                </a:solidFill>
              </a:defRPr>
            </a:pPr>
            <a:r>
              <a:t>Features: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505050"/>
                </a:solidFill>
              </a:defRPr>
            </a:pPr>
            <a:r>
              <a:t>  - Demographics: Age, Sex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505050"/>
                </a:solidFill>
              </a:defRPr>
            </a:pPr>
            <a:r>
              <a:t>  - Clinical: ChestPainType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505050"/>
                </a:solidFill>
              </a:defRPr>
            </a:pPr>
            <a:r>
              <a:t>  - Measurements: RestingBP, MaxHR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505050"/>
                </a:solidFill>
              </a:defRPr>
            </a:pPr>
            <a:r>
              <a:t>  - Blood: Cholesterol, FastingBS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505050"/>
                </a:solidFill>
              </a:defRPr>
            </a:pPr>
            <a:r>
              <a:t>  - ECG: RestingECG, ST_Slope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505050"/>
                </a:solidFill>
              </a:defRPr>
            </a:pPr>
            <a:r>
              <a:t>  - Exercise: ExerciseAngina, Oldpeak</a:t>
            </a:r>
          </a:p>
        </p:txBody>
      </p:sp>
      <p:pic>
        <p:nvPicPr>
          <p:cNvPr id="5" name="Picture 4" descr="temp_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657600" cy="29055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Exploratory Data Analysis (EDA) - Part 1</a:t>
            </a:r>
          </a:p>
        </p:txBody>
      </p:sp>
      <p:pic>
        <p:nvPicPr>
          <p:cNvPr id="4" name="Picture 3" descr="temp_ed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483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Exploratory Data Analysis (EDA) - Part 2</a:t>
            </a:r>
          </a:p>
        </p:txBody>
      </p:sp>
      <p:pic>
        <p:nvPicPr>
          <p:cNvPr id="4" name="Picture 3" descr="temp_ed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57364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Machine Learning Models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028090"/>
                </a:solidFill>
              </a:defRPr>
            </a:pPr>
            <a:r>
              <a:t>Models Evaluated: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1. Logistic Regression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Linear classification with L2 regularization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2. Support Vector Machine (Linear)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Linear kernel SVM for classification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3. Support Vector Machine (RBF)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Non-linear RBF kernel SVM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4. Random Forest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Ensemble of 100 decision trees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5. Linear Discriminant Analysis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Statistical linear classification method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028090"/>
                </a:solidFill>
              </a:defRPr>
            </a:pPr>
            <a:r>
              <a:t>Preprocessing Steps: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505050"/>
                </a:solidFill>
              </a:defRPr>
            </a:pPr>
            <a:r>
              <a:t>• Categorical Encoding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LabelEncoder for 5 categorical features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505050"/>
                </a:solidFill>
              </a:defRPr>
            </a:pPr>
            <a:r>
              <a:t>• Feature Scaling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StandardScaler for 6 numeric features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505050"/>
                </a:solidFill>
              </a:defRPr>
            </a:pPr>
            <a:r>
              <a:t>• Zero Handling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Median imputation for Cholesterol &amp; RestingBP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505050"/>
                </a:solidFill>
              </a:defRPr>
            </a:pPr>
            <a:r>
              <a:t>• Data Splitting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80/20 stratified train-test split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505050"/>
                </a:solidFill>
              </a:defRPr>
            </a:pPr>
            <a:r>
              <a:t>• Cross-Validation</a:t>
            </a:r>
          </a:p>
          <a:p>
            <a:pPr lvl="1">
              <a:spcAft>
                <a:spcPts val="200"/>
              </a:spcAft>
              <a:defRPr sz="1200">
                <a:solidFill>
                  <a:srgbClr val="505050"/>
                </a:solidFill>
              </a:defRPr>
            </a:pPr>
            <a:r>
              <a:t>5-fold stratified cross-validation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Feature Importance Analysis</a:t>
            </a:r>
          </a:p>
        </p:txBody>
      </p:sp>
      <p:pic>
        <p:nvPicPr>
          <p:cNvPr id="4" name="Picture 3" descr="temp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372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Performance Metrics</a:t>
            </a:r>
          </a:p>
        </p:txBody>
      </p:sp>
      <p:pic>
        <p:nvPicPr>
          <p:cNvPr id="4" name="Picture 3" descr="temp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113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Confusion Matrix &amp; ROC Curve</a:t>
            </a:r>
          </a:p>
        </p:txBody>
      </p:sp>
      <p:pic>
        <p:nvPicPr>
          <p:cNvPr id="4" name="Picture 3" descr="temp_confusi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37918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Selection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028090"/>
                </a:solidFill>
              </a:defRPr>
            </a:pPr>
            <a:r>
              <a:t>Selected Model: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Random Forest (Regular, not tuned)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028090"/>
                </a:solidFill>
              </a:defRPr>
            </a:pPr>
            <a:r>
              <a:t>Key Metrics: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>
                <a:solidFill>
                  <a:srgbClr val="505050"/>
                </a:solidFill>
              </a:defRPr>
            </a:pPr>
            <a:r>
              <a:t>• Cross-Validation ROC-AUC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0.9242 - Excellent generalization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>
                <a:solidFill>
                  <a:srgbClr val="505050"/>
                </a:solidFill>
              </a:defRPr>
            </a:pPr>
            <a:r>
              <a:t>• Test Set ROC-AUC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0.9239 - Perfect consistency with CV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>
                <a:solidFill>
                  <a:srgbClr val="505050"/>
                </a:solidFill>
              </a:defRPr>
            </a:pPr>
            <a:r>
              <a:t>• CV-Test Gap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+0.0003 - Exceptional generalization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>
                <a:solidFill>
                  <a:srgbClr val="505050"/>
                </a:solidFill>
              </a:defRPr>
            </a:pPr>
            <a:r>
              <a:t>• Test Accuracy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0.8641 - Strong predictive performance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>
                <a:solidFill>
                  <a:srgbClr val="505050"/>
                </a:solidFill>
              </a:defRPr>
            </a:pPr>
            <a:r>
              <a:t>• Test Recall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~0.86 - Good at catching disease cases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505050"/>
                </a:solidFill>
              </a:defRPr>
            </a:pPr>
            <a:r>
              <a:t>Why Regular RF over Tuned RF?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1E7E34"/>
                </a:solidFill>
              </a:defRPr>
            </a:pPr>
            <a:r>
              <a:t>✓ Better generalization to unseen data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CV-Test gap of 0.0003 vs 0.0095 in tuned RF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1E7E34"/>
                </a:solidFill>
              </a:defRPr>
            </a:pPr>
            <a:r>
              <a:t>✓ Simpler model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Easier to maintain and explain to healthcare professionals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1E7E34"/>
                </a:solidFill>
              </a:defRPr>
            </a:pPr>
            <a:r>
              <a:t>✓ No overfitting risk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Tuned RF showed signs of overfitting in training data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1E7E34"/>
                </a:solidFill>
              </a:defRPr>
            </a:pPr>
            <a:r>
              <a:t>✓ Consistent performance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Will reliably perform on new patient data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1E7E34"/>
                </a:solidFill>
              </a:defRPr>
            </a:pPr>
            <a:r>
              <a:t>✓ Production-ready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Deployed in Streamlit web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Streamlit Web Application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28090"/>
                </a:solidFill>
              </a:defRPr>
            </a:pPr>
            <a:r>
              <a:t>Application URL: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https://heart-failure-prediction-mlcourse2025-2026.streamlit.app/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defRPr sz="1400" b="1">
                <a:solidFill>
                  <a:srgbClr val="028090"/>
                </a:solidFill>
              </a:defRPr>
            </a:pPr>
            <a:r>
              <a:t>Features: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🔮 Make Prediction Tab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Real-time risk assessment with patient input sliders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📊 Patient History Tab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Track multiple patient predictions and analyze trends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📈 Data Insights Tab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View dataset statistics and visualizations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ℹ️ About Project Tab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Course information and disclaimers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defRPr sz="1400" b="1">
                <a:solidFill>
                  <a:srgbClr val="028090"/>
                </a:solidFill>
              </a:defRPr>
            </a:pPr>
            <a:r>
              <a:t>Model Explainability:</a:t>
            </a:r>
          </a:p>
          <a:p>
            <a:pPr>
              <a:spcBef>
                <a:spcPts val="200"/>
              </a:spcBef>
              <a:defRPr sz="1100">
                <a:solidFill>
                  <a:srgbClr val="505050"/>
                </a:solidFill>
              </a:defRPr>
            </a:pPr>
            <a:r>
              <a:t>• SHAP Feature Importance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Shows which features influence each prediction</a:t>
            </a:r>
          </a:p>
          <a:p>
            <a:pPr>
              <a:spcBef>
                <a:spcPts val="200"/>
              </a:spcBef>
              <a:defRPr sz="1100">
                <a:solidFill>
                  <a:srgbClr val="505050"/>
                </a:solidFill>
              </a:defRPr>
            </a:pPr>
            <a:r>
              <a:t>• Risk Percentage Display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Real-time risk score (0-100%)</a:t>
            </a:r>
          </a:p>
          <a:p>
            <a:pPr>
              <a:spcBef>
                <a:spcPts val="200"/>
              </a:spcBef>
              <a:defRPr sz="1100">
                <a:solidFill>
                  <a:srgbClr val="505050"/>
                </a:solidFill>
              </a:defRPr>
            </a:pPr>
            <a:r>
              <a:t>• Confidence Metrics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Model confidence for each prediction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defRPr sz="1400" b="1">
                <a:solidFill>
                  <a:srgbClr val="028090"/>
                </a:solidFill>
              </a:defRPr>
            </a:pPr>
            <a:r>
              <a:t>Data Tracking:</a:t>
            </a:r>
          </a:p>
          <a:p>
            <a:pPr>
              <a:spcBef>
                <a:spcPts val="200"/>
              </a:spcBef>
              <a:defRPr sz="1100">
                <a:solidFill>
                  <a:srgbClr val="505050"/>
                </a:solidFill>
              </a:defRPr>
            </a:pPr>
            <a:r>
              <a:t>• JSON File Storage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Patient history saved in patient_history.json</a:t>
            </a:r>
          </a:p>
          <a:p>
            <a:pPr>
              <a:spcBef>
                <a:spcPts val="200"/>
              </a:spcBef>
              <a:defRPr sz="1100">
                <a:solidFill>
                  <a:srgbClr val="505050"/>
                </a:solidFill>
              </a:defRPr>
            </a:pPr>
            <a:r>
              <a:t>• Trend Analysis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Visualize risk trends over multiple visits</a:t>
            </a:r>
          </a:p>
          <a:p>
            <a:pPr>
              <a:spcBef>
                <a:spcPts val="200"/>
              </a:spcBef>
              <a:defRPr sz="1100">
                <a:solidFill>
                  <a:srgbClr val="505050"/>
                </a:solidFill>
              </a:defRPr>
            </a:pPr>
            <a:r>
              <a:t>• Patient Information Display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Age, sex, and clinical measurements shown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28090"/>
                </a:solidFill>
              </a:defRPr>
            </a:pPr>
            <a:r>
              <a:t>Key Achievements:</a:t>
            </a:r>
          </a:p>
          <a:p>
            <a:pPr>
              <a:spcBef>
                <a:spcPts val="200"/>
              </a:spcBef>
              <a:defRPr sz="1200">
                <a:solidFill>
                  <a:srgbClr val="1E7E34"/>
                </a:solidFill>
              </a:defRPr>
            </a:pPr>
            <a:r>
              <a:t>✓ Built &amp; evaluated 5 machine learning models</a:t>
            </a:r>
          </a:p>
          <a:p>
            <a:pPr>
              <a:spcBef>
                <a:spcPts val="200"/>
              </a:spcBef>
              <a:defRPr sz="1200">
                <a:solidFill>
                  <a:srgbClr val="1E7E34"/>
                </a:solidFill>
              </a:defRPr>
            </a:pPr>
            <a:r>
              <a:t>✓ Achieved 92.39% ROC-AUC on test set</a:t>
            </a:r>
          </a:p>
          <a:p>
            <a:pPr>
              <a:spcBef>
                <a:spcPts val="200"/>
              </a:spcBef>
              <a:defRPr sz="1200">
                <a:solidFill>
                  <a:srgbClr val="1E7E34"/>
                </a:solidFill>
              </a:defRPr>
            </a:pPr>
            <a:r>
              <a:t>✓ Demonstrated exceptional generalization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CV-Test gap: +0.0003</a:t>
            </a:r>
          </a:p>
          <a:p>
            <a:pPr>
              <a:spcBef>
                <a:spcPts val="200"/>
              </a:spcBef>
              <a:defRPr sz="1200">
                <a:solidFill>
                  <a:srgbClr val="1E7E34"/>
                </a:solidFill>
              </a:defRPr>
            </a:pPr>
            <a:r>
              <a:t>✓ Deployed production-ready web application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Live on Streamlit Cloud</a:t>
            </a:r>
          </a:p>
          <a:p>
            <a:pPr>
              <a:spcBef>
                <a:spcPts val="200"/>
              </a:spcBef>
              <a:defRPr sz="1200">
                <a:solidFill>
                  <a:srgbClr val="1E7E34"/>
                </a:solidFill>
              </a:defRPr>
            </a:pPr>
            <a:r>
              <a:t>✓ Implemented SHAP model explainability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Feature importance analysis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200"/>
              </a:spcBef>
              <a:defRPr sz="1500" b="1">
                <a:solidFill>
                  <a:srgbClr val="1E7E34"/>
                </a:solidFill>
              </a:defRPr>
            </a:pPr>
            <a:r>
              <a:t>Production Status: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READY FOR DEPLOYMENT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200"/>
              </a:spcBef>
              <a:defRPr sz="1400" b="1">
                <a:solidFill>
                  <a:srgbClr val="028090"/>
                </a:solidFill>
              </a:defRPr>
            </a:pPr>
            <a:r>
              <a:t>Future Recommendations: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1. Continuous Model Monitoring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Track prediction accuracy on new patient data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2. Periodic Retraining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Update model quarterly as new patient data arrives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3. Clinical Validation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Validate predictions with healthcare professionals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4. Feature Engineering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Explore new clinical indicators for improved predictions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5. Ensemble Methods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Consider stacking multiple models for robustness</a:t>
            </a:r>
          </a:p>
          <a:p>
            <a:pPr>
              <a:spcBef>
                <a:spcPts val="200"/>
              </a:spcBef>
              <a:defRPr sz="1200">
                <a:solidFill>
                  <a:srgbClr val="505050"/>
                </a:solidFill>
              </a:defRPr>
            </a:pPr>
            <a:r>
              <a:t>6. Mobile Application</a:t>
            </a:r>
          </a:p>
          <a:p>
            <a:pPr lvl="1">
              <a:spcAft>
                <a:spcPts val="200"/>
              </a:spcAft>
              <a:defRPr sz="1100">
                <a:solidFill>
                  <a:srgbClr val="505050"/>
                </a:solidFill>
              </a:defRPr>
            </a:pPr>
            <a:r>
              <a:t>Develop iOS/Android app for wider accessibility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