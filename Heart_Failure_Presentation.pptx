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2809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65A82"/>
                </a:solidFill>
              </a:defRPr>
            </a:pPr>
            <a:r>
              <a:t>Heart Failure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028090"/>
                </a:solidFill>
              </a:defRPr>
            </a:pPr>
            <a:r>
              <a:t>Machine Learning &amp; Deep Learning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Advanced ML &amp; Data Analytics Course | Nexa-land | Prof. Hamed Mamani, University of Washington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1. Project Overview &amp; Problem Statement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2. Dataset Information &amp; Characteristics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3. Exploratory Data Analysis - Part 1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4. Exploratory Data Analysis - Part 2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5. ML &amp; Deep Learning Models Overview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6. Feature Importance Analysis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7. All Models Performance Comparison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8. Deep Learning: Neural Network Details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9. Model Selection &amp; Recommendation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10. Confusion Matrix &amp; ROC Curve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11. Streamlit Web Application</a:t>
            </a:r>
          </a:p>
          <a:p>
            <a:pPr>
              <a:spcAft>
                <a:spcPts val="600"/>
              </a:spcAft>
              <a:defRPr sz="1600">
                <a:solidFill>
                  <a:srgbClr val="505050"/>
                </a:solidFill>
              </a:defRPr>
            </a:pPr>
            <a:r>
              <a:t>12. Conclusions &amp;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Project Overview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400" b="1">
                <a:solidFill>
                  <a:srgbClr val="028090"/>
                </a:solidFill>
              </a:defRPr>
            </a:pPr>
            <a:r>
              <a:t>Objective:</a:t>
            </a:r>
          </a:p>
          <a:p>
            <a:pPr lvl="1">
              <a:spcAft>
                <a:spcPts val="200"/>
              </a:spcAft>
              <a:defRPr sz="1200">
                <a:solidFill>
                  <a:srgbClr val="505050"/>
                </a:solidFill>
              </a:defRPr>
            </a:pPr>
            <a:r>
              <a:t>Develop ML/DL system to predict heart failure risk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200"/>
              </a:spcBef>
              <a:defRPr sz="1400" b="1">
                <a:solidFill>
                  <a:srgbClr val="028090"/>
                </a:solidFill>
              </a:defRPr>
            </a:pPr>
            <a:r>
              <a:t>Problem Statement: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Healthcare professionals need data-driven tools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Early prediction can save lives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Comparing traditional ML vs Deep Learning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200"/>
              </a:spcBef>
              <a:defRPr sz="1400" b="1">
                <a:solidFill>
                  <a:srgbClr val="028090"/>
                </a:solidFill>
              </a:defRPr>
            </a:pPr>
            <a:r>
              <a:t>Our Approach: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Evaluate 6 models (5 Traditional + 1 Deep Learning)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Rigorous cross-validation and test evaluation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Deploy as interactive web application</a:t>
            </a:r>
          </a:p>
          <a:p>
            <a:pPr>
              <a:spcBef>
                <a:spcPts val="200"/>
              </a:spcBef>
              <a:defRPr sz="1300">
                <a:solidFill>
                  <a:srgbClr val="505050"/>
                </a:solidFill>
              </a:defRPr>
            </a:pPr>
            <a:r>
              <a:t>• Focus on healthcare: maximize Recall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Dataset Information &amp; Characteristics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Dataset: Heart Failure Prediction</a:t>
            </a:r>
          </a:p>
          <a:p>
            <a:pPr>
              <a:spcAft>
                <a:spcPts val="300"/>
              </a:spcAft>
            </a:pPr>
          </a:p>
          <a:p>
            <a:pPr>
              <a:spcBef>
                <a:spcPts val="100"/>
              </a:spcBef>
              <a:defRPr b="1" sz="1300">
                <a:solidFill>
                  <a:srgbClr val="028090"/>
                </a:solidFill>
              </a:defRPr>
            </a:pPr>
            <a:r>
              <a:t>Quality Metrics: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• Total Samples: 918 patient records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• Training Set: 734 samples (80%)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• Test Set: 184 samples (20%)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• Missing Values: 0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• Duplicate Rows: 0</a:t>
            </a:r>
          </a:p>
          <a:p>
            <a:pPr>
              <a:spcAft>
                <a:spcPts val="300"/>
              </a:spcAft>
            </a:pPr>
          </a:p>
          <a:p>
            <a:pPr>
              <a:spcBef>
                <a:spcPts val="100"/>
              </a:spcBef>
              <a:defRPr b="1" sz="1300">
                <a:solidFill>
                  <a:srgbClr val="028090"/>
                </a:solidFill>
              </a:defRPr>
            </a:pPr>
            <a:r>
              <a:t>11 Clinical Features: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Age, Sex, ChestPainType, RestingBP, Cholesterol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FastingBS, RestingECG, MaxHR, ExerciseAngina, Oldpeak, ST_Slope</a:t>
            </a:r>
          </a:p>
          <a:p>
            <a:pPr>
              <a:spcAft>
                <a:spcPts val="300"/>
              </a:spcAft>
            </a:pP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Target: HeartDisease</a:t>
            </a:r>
          </a:p>
          <a:p>
            <a:pPr lvl="1">
              <a:spcAft>
                <a:spcPts val="100"/>
              </a:spcAft>
              <a:defRPr sz="1100">
                <a:solidFill>
                  <a:srgbClr val="505050"/>
                </a:solidFill>
              </a:defRPr>
            </a:pPr>
            <a:r>
              <a:t>Binary - 55.3% vs 44.7%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Exploratory Data Analysis - Part 1</a:t>
            </a:r>
          </a:p>
        </p:txBody>
      </p:sp>
      <p:pic>
        <p:nvPicPr>
          <p:cNvPr id="4" name="Picture 3" descr="ed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38921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Exploratory Data Analysis - Part 2</a:t>
            </a:r>
          </a:p>
        </p:txBody>
      </p:sp>
      <p:pic>
        <p:nvPicPr>
          <p:cNvPr id="4" name="Picture 3" descr="ed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39908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ML &amp; Deep Learning Models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Traditional ML (5 Models):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1. Logistic Regression</a:t>
            </a:r>
          </a:p>
          <a:p>
            <a:pPr lvl="1">
              <a:spcAft>
                <a:spcPts val="100"/>
              </a:spcAft>
              <a:defRPr sz="1000">
                <a:solidFill>
                  <a:srgbClr val="505050"/>
                </a:solidFill>
              </a:defRPr>
            </a:pPr>
            <a:r>
              <a:t>Linear classification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2. SVM Linear</a:t>
            </a:r>
          </a:p>
          <a:p>
            <a:pPr lvl="1">
              <a:spcAft>
                <a:spcPts val="100"/>
              </a:spcAft>
              <a:defRPr sz="1000">
                <a:solidFill>
                  <a:srgbClr val="505050"/>
                </a:solidFill>
              </a:defRPr>
            </a:pPr>
            <a:r>
              <a:t>Linear support vectors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3. SVM RBF</a:t>
            </a:r>
          </a:p>
          <a:p>
            <a:pPr lvl="1">
              <a:spcAft>
                <a:spcPts val="100"/>
              </a:spcAft>
              <a:defRPr sz="1000">
                <a:solidFill>
                  <a:srgbClr val="505050"/>
                </a:solidFill>
              </a:defRPr>
            </a:pPr>
            <a:r>
              <a:t>Non-linear kernels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4. Decision Tree</a:t>
            </a:r>
          </a:p>
          <a:p>
            <a:pPr lvl="1">
              <a:spcAft>
                <a:spcPts val="100"/>
              </a:spcAft>
              <a:defRPr sz="1000">
                <a:solidFill>
                  <a:srgbClr val="505050"/>
                </a:solidFill>
              </a:defRPr>
            </a:pPr>
            <a:r>
              <a:t>Tree-based rules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5. Random Forest</a:t>
            </a:r>
          </a:p>
          <a:p>
            <a:pPr lvl="1">
              <a:spcAft>
                <a:spcPts val="100"/>
              </a:spcAft>
              <a:defRPr sz="1000">
                <a:solidFill>
                  <a:srgbClr val="505050"/>
                </a:solidFill>
              </a:defRPr>
            </a:pPr>
            <a:r>
              <a:t>Ensemble of 100 trees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Deep Learning: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Neural Network (TensorFlow/Keras)</a:t>
            </a:r>
          </a:p>
          <a:p>
            <a:pPr lvl="1">
              <a:spcAft>
                <a:spcPts val="100"/>
              </a:spcAft>
              <a:defRPr sz="1000">
                <a:solidFill>
                  <a:srgbClr val="505050"/>
                </a:solidFill>
              </a:defRPr>
            </a:pPr>
            <a:r>
              <a:t>3-layer feedforward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  128 -&gt; 64 -&gt; 32 neurons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  ReLU + Sigmoid activations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  Dropout (0.2-0.3) regularization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  100 epochs + Early Stopping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Preprocessing: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LabelEncoder + StandardScaler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5-fold stratified cross-validation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Feature Importance Analysis</a:t>
            </a:r>
          </a:p>
        </p:txBody>
      </p:sp>
      <p:pic>
        <p:nvPicPr>
          <p:cNvPr id="4" name="Picture 3" descr="f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372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All Models Performance Comparison</a:t>
            </a:r>
          </a:p>
        </p:txBody>
      </p:sp>
      <p:pic>
        <p:nvPicPr>
          <p:cNvPr id="4" name="Picture 3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8778240" cy="36646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Deep Learning: Neural Network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Network Architecture: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Layer Structure: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Input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11 clinical features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Hidden 1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128 neurons + ReLU + Dropout(0.3)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Hidden 2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64 neurons + ReLU + Dropout(0.3)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Hidden 3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32 neurons + ReLU + Dropout(0.2)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Output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1 neuron + Sigmoid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Training: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Optimizer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Adam (lr=0.001)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Loss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Binary Crossentropy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Epochs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100 with Early Stopping (patience=15)</a:t>
            </a:r>
          </a:p>
          <a:p>
            <a:pPr>
              <a:spcBef>
                <a:spcPts val="100"/>
              </a:spcBef>
              <a:defRPr sz="1100">
                <a:solidFill>
                  <a:srgbClr val="505050"/>
                </a:solidFill>
              </a:defRPr>
            </a:pPr>
            <a:r>
              <a:t>Batch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32 | Validation: 20%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100"/>
              </a:spcBef>
              <a:defRPr b="1" sz="1200">
                <a:solidFill>
                  <a:srgbClr val="028090"/>
                </a:solidFill>
              </a:defRPr>
            </a:pPr>
            <a:r>
              <a:t>Performance: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ROC-AUC: 0.9212 | Accuracy: 84.24% | Recall: 84.31%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Model Selection &amp; Production Recommendation</a:t>
            </a:r>
          </a:p>
        </p:txBody>
      </p:sp>
      <p:pic>
        <p:nvPicPr>
          <p:cNvPr id="4" name="Picture 3" descr="recomme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97280"/>
            <a:ext cx="8961120" cy="53374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Confusion Matrix &amp; ROC Curve</a:t>
            </a:r>
          </a:p>
        </p:txBody>
      </p:sp>
      <p:pic>
        <p:nvPicPr>
          <p:cNvPr id="4" name="Picture 3" descr="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113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Streamlit Web Application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defRPr b="1" sz="1300">
                <a:solidFill>
                  <a:srgbClr val="028090"/>
                </a:solidFill>
              </a:defRPr>
            </a:pPr>
            <a:r>
              <a:t>Features: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1. Real-Time Predictions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Instant risk assessment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2. Interactive Dashboard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Adjustable parameters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3. Risk Score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Probability + classification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4. Patient History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Save &amp; view history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5. Trend Analysis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Visualize trends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6. Feature Importance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SHAP analysis</a:t>
            </a:r>
          </a:p>
          <a:p>
            <a:pPr>
              <a:spcAft>
                <a:spcPts val="300"/>
              </a:spcAft>
            </a:pPr>
          </a:p>
          <a:p>
            <a:pPr>
              <a:spcBef>
                <a:spcPts val="100"/>
              </a:spcBef>
              <a:defRPr b="1" sz="1300">
                <a:solidFill>
                  <a:srgbClr val="028090"/>
                </a:solidFill>
              </a:defRPr>
            </a:pPr>
            <a:r>
              <a:t>Technical Stack: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Framework: Streamlit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Model: Random Forest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Storage: JSON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Visualization: Plotly, Matplotlib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Deployment: Streamlit Cloud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URL: https://heart-disease-predictor...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Conclusions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defRPr b="1" sz="1300">
                <a:solidFill>
                  <a:srgbClr val="028090"/>
                </a:solidFill>
              </a:defRPr>
            </a:pPr>
            <a:r>
              <a:t>Achievements: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Built &amp; evaluated 6 ML/DL models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Achieved 92.39% ROC-AUC (Random Forest)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Neural Network: 92.12% ROC-AUC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Exceptional generalization (gap: 0.0003)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Deployed production-ready app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Implemented SHAP explainability</a:t>
            </a:r>
          </a:p>
          <a:p>
            <a:pPr>
              <a:spcAft>
                <a:spcPts val="300"/>
              </a:spcAft>
            </a:pPr>
          </a:p>
          <a:p>
            <a:pPr>
              <a:spcBef>
                <a:spcPts val="100"/>
              </a:spcBef>
              <a:defRPr b="1" sz="1400">
                <a:solidFill>
                  <a:srgbClr val="1E7E34"/>
                </a:solidFill>
              </a:defRPr>
            </a:pPr>
            <a:r>
              <a:t>Recommended: RANDOM FOREST</a:t>
            </a:r>
          </a:p>
          <a:p>
            <a:pPr>
              <a:spcBef>
                <a:spcPts val="100"/>
              </a:spcBef>
              <a:defRPr b="1" sz="1400">
                <a:solidFill>
                  <a:srgbClr val="1E7E34"/>
                </a:solidFill>
              </a:defRPr>
            </a:pPr>
            <a:r>
              <a:t>Status: PRODUCTION READY</a:t>
            </a:r>
          </a:p>
          <a:p>
            <a:pPr>
              <a:spcAft>
                <a:spcPts val="300"/>
              </a:spcAft>
            </a:pPr>
          </a:p>
          <a:p>
            <a:pPr>
              <a:spcBef>
                <a:spcPts val="100"/>
              </a:spcBef>
              <a:defRPr b="1" sz="1300">
                <a:solidFill>
                  <a:srgbClr val="028090"/>
                </a:solidFill>
              </a:defRPr>
            </a:pPr>
            <a:r>
              <a:t>Future Work: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1. Continuous Monitoring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Track new data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2. Quarterly Retraining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Update model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3. Clinical Validation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Healthcare testing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4. Ensemble Methods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RF + NN combination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5. Mobile Apps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iOS/Android</a:t>
            </a:r>
          </a:p>
          <a:p>
            <a:pPr>
              <a:spcBef>
                <a:spcPts val="100"/>
              </a:spcBef>
              <a:defRPr sz="1200">
                <a:solidFill>
                  <a:srgbClr val="505050"/>
                </a:solidFill>
              </a:defRPr>
            </a:pPr>
            <a:r>
              <a:t>6. Hospital Integration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Real-world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